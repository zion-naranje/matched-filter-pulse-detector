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Template Matching of Environmental Sounds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using Normalised Cross-Correlation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CFDDEE"/>
                </a:solidFill>
                <a:latin typeface="Calibri"/>
              </a:rPr>
              <a:t>Finding where a known sound occurs in a longer recording (ESC-50)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Student name: </a:t>
            </a:r>
            <a:r>
              <a:rPr sz="18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[Student name]</a:t>
            </a:r>
            <a:r>
              <a:rPr sz="1800" b="0">
                <a:solidFill>
                  <a:srgbClr val="FFFFFF"/>
                </a:solidFill>
                <a:latin typeface="Calibri"/>
              </a:rPr>
              <a:t>     Roll no: </a:t>
            </a:r>
            <a:r>
              <a:rPr sz="18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[Roll no]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Guide name: </a:t>
            </a:r>
            <a:r>
              <a:rPr sz="18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[Guide name]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Department: </a:t>
            </a:r>
            <a:r>
              <a:rPr sz="18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[Department]</a:t>
            </a:r>
            <a:r>
              <a:rPr sz="1800" b="0">
                <a:solidFill>
                  <a:srgbClr val="FFFFFF"/>
                </a:solidFill>
                <a:latin typeface="Calibri"/>
              </a:rPr>
              <a:t>     Institute: </a:t>
            </a:r>
            <a:r>
              <a:rPr sz="18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[Institute]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Academic year: </a:t>
            </a:r>
            <a:r>
              <a:rPr sz="18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[Academic year]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1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400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Goal: find where a known sound occurs in a longer recording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Method: slide the template along the recording; score every position with normalised cross-correlation (NCC) [4], [7]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Dividing by window and template energy makes the score volume-independent, in [-1, 1]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Test data: ESC-50 [1], [2] clips joined with 1 s silences, so true positions are known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ESC-50: 2,000 clips, 50 classes, 5 s, 44.1 kHz; CC BY-NC 3.0 [3]; we use 5 classes at 16 kHz</a:t>
            </a:r>
          </a:p>
        </p:txBody>
      </p:sp>
      <p:pic>
        <p:nvPicPr>
          <p:cNvPr id="6" name="Picture 5" descr="fig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280160"/>
            <a:ext cx="4846320" cy="3336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2  Comparative Study of 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1188720"/>
                <a:gridCol w="4297680"/>
              </a:tblGrid>
              <a:tr h="574765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Takeaway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  <a:highlight>
                            <a:srgbClr val="FFFF00"/>
                          </a:highlight>
                        </a:rPr>
                        <a:t>[Base paper to be verified by the student]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[Year]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[Not verified within the time limit]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Piczak, ESC dataset [1], [2]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2015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Labelled clips, 50 classes; benchmark data used here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Richards, Fundamentals of Radar Signal Processing [4]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2014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Matched filter and correlation detection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Richards, Scheer, Holm, Principles of Modern Radar [5]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2010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Correlation detection and thresholds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Skolnik, Radar Handbook [6]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2008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Matched filtering reference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57477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TU Berlin, Matched Filter and Pulse Compression [7]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n.d.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FFT correlation in Python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Base paper not verified (no access to check authors, year, venue, DOI) - left as a placeholder. Other rows are summaries, not full-text reviews.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3 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latin typeface="Calibri"/>
              </a:rPr>
              <a:t>•  Load ESC-50, convert to mono 16 kHz, normalise</a:t>
            </a:r>
          </a:p>
          <a:p>
            <a:pPr>
              <a:spcAft>
                <a:spcPts val="600"/>
              </a:spcAft>
            </a:pPr>
            <a:r>
              <a:rPr sz="2200" b="0">
                <a:latin typeface="Calibri"/>
              </a:rPr>
              <a:t>•  Join clips with 1 s silences; record exact spans as ground truth</a:t>
            </a:r>
          </a:p>
          <a:p>
            <a:pPr>
              <a:spcAft>
                <a:spcPts val="600"/>
              </a:spcAft>
            </a:pPr>
            <a:r>
              <a:rPr sz="2200" b="0">
                <a:latin typeface="Calibri"/>
              </a:rPr>
              <a:t>•  FFT-based normalised cross-correlation in NumPy; threshold + non-maximum suppression</a:t>
            </a:r>
          </a:p>
          <a:p>
            <a:pPr>
              <a:spcAft>
                <a:spcPts val="600"/>
              </a:spcAft>
            </a:pPr>
            <a:r>
              <a:rPr sz="2200" b="0">
                <a:latin typeface="Calibri"/>
              </a:rPr>
              <a:t>•  Detection correct if its centre lies inside a true clip; precision, recall, F1</a:t>
            </a:r>
          </a:p>
          <a:p>
            <a:pPr>
              <a:spcAft>
                <a:spcPts val="600"/>
              </a:spcAft>
            </a:pPr>
            <a:r>
              <a:rPr sz="2200" b="0">
                <a:latin typeface="Calibri"/>
              </a:rPr>
              <a:t>•  Streamlit app with a threshold slider and plots</a:t>
            </a:r>
          </a:p>
          <a:p>
            <a:pPr>
              <a:spcAft>
                <a:spcPts val="600"/>
              </a:spcAft>
            </a:pPr>
            <a:r>
              <a:rPr sz="2200" b="0">
                <a:latin typeface="Calibri"/>
              </a:rPr>
              <a:t>•  Experiment: P/R/F1 vs threshold, 5 classes, 30 recordings each; best threshold per class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4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  <p:pic>
        <p:nvPicPr>
          <p:cNvPr id="5" name="Picture 4" descr="fi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36701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548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latin typeface="Calibri"/>
              </a:rPr>
              <a:t>•  score[k] = sum x[k+n]·t[n] / ( sqrt(sum x[k+n]²) · sqrt(sum t²) )   (numerator by FFT, window energy by running sum)</a:t>
            </a:r>
          </a:p>
          <a:p>
            <a:pPr>
              <a:spcAft>
                <a:spcPts val="600"/>
              </a:spcAft>
            </a:pPr>
            <a:r>
              <a:rPr sz="1700" b="0">
                <a:latin typeface="Calibri"/>
              </a:rPr>
              <a:t>•  Two test conditions: other clips of the class  |  the template itself (gain 0.5–1.5, 20 dB noise)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5  Work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NumPy [8] for all matching; SciPy [9] only for WAV reading and resampling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Data from your ESC-50 zip, a folder, or single-file GitHub download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Streamlit app [11]; Matplotlib [10]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pytest [12]: 6 tests, all pass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Chance baseline added to judge the results honestly</a:t>
            </a:r>
          </a:p>
        </p:txBody>
      </p:sp>
      <p:pic>
        <p:nvPicPr>
          <p:cNvPr id="6" name="Picture 5" descr="app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92531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6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  <p:pic>
        <p:nvPicPr>
          <p:cNvPr id="5" name="Picture 4" descr="fig_prf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26326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3840480"/>
            <a:ext cx="11430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Same sound repeated (gain 0.5–1.5, 20 dB noise): F1 = dog 1.00, rooster 1.00, rain 1.00, siren 1.00, door_wood_knock 1.00 (no false detections)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Other clips of the class (figure): best F1 dog 0.40 (chance 0.23), rooster 0.41 (chance 0.34), rain 0.21 (chance 0.21), siren 0.49 (chance 0.47), door_wood_knock 0.68 (chance 0.33)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Only dog and door_wood_knock clearly beat chance; rain and siren are at chance level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Best thresholds are very low (0.02–0.14): raw-waveform NCC does not generalise across different recordings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7 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latin typeface="Calibri"/>
              </a:rPr>
              <a:t>[1] K. J. Piczak, "ESC: Dataset for Environmental Sound Classification", Proc. 23rd ACM International Conference on Multimedia (ACM Multimedia), 2015.</a:t>
            </a:r>
          </a:p>
          <a:p>
            <a:pPr>
              <a:spcAft>
                <a:spcPts val="600"/>
              </a:spcAft>
            </a:pPr>
            <a:r>
              <a:rPr sz="1400" b="0">
                <a:latin typeface="Calibri"/>
              </a:rPr>
              <a:t>[2] K. J. Piczak, ESC-50: Dataset for Environmental Sound Classification (2,000 clips, 50 classes), github.com/karolpiczak/ESC-50.</a:t>
            </a:r>
          </a:p>
          <a:p>
            <a:pPr>
              <a:spcAft>
                <a:spcPts val="600"/>
              </a:spcAft>
            </a:pPr>
            <a:r>
              <a:rPr sz="1400" b="0">
                <a:latin typeface="Calibri"/>
              </a:rPr>
              <a:t>[3] Creative Commons Attribution-NonCommercial 3.0 licence (CC BY-NC 3.0), creativecommons.org/licenses/by-nc/3.0/.</a:t>
            </a:r>
          </a:p>
          <a:p>
            <a:pPr>
              <a:spcAft>
                <a:spcPts val="600"/>
              </a:spcAft>
            </a:pPr>
            <a:r>
              <a:rPr sz="1400" b="0">
                <a:latin typeface="Calibri"/>
              </a:rPr>
              <a:t>[4] M. A. Richards, Fundamentals of Radar Signal Processing, 2nd ed., McGraw-Hill, 2014.</a:t>
            </a:r>
          </a:p>
          <a:p>
            <a:pPr>
              <a:spcAft>
                <a:spcPts val="600"/>
              </a:spcAft>
            </a:pPr>
            <a:r>
              <a:rPr sz="1400" b="0">
                <a:latin typeface="Calibri"/>
              </a:rPr>
              <a:t>[5] M. A. Richards, J. A. Scheer and W. A. Holm (eds.), Principles of Modern Radar: Basic Principles, SciTech Publishing, 2010.</a:t>
            </a:r>
          </a:p>
          <a:p>
            <a:pPr>
              <a:spcAft>
                <a:spcPts val="600"/>
              </a:spcAft>
            </a:pPr>
            <a:r>
              <a:rPr sz="1400" b="0">
                <a:latin typeface="Calibri"/>
              </a:rPr>
              <a:t>[7] TU Berlin, "Matched Filter and Pulse Compression", chapter of the Scientific Python course, platform.commit.tu-berlin.de/en/book/sci-python/chapter/ch25/section/s01.</a:t>
            </a:r>
          </a:p>
          <a:p>
            <a:pPr>
              <a:spcAft>
                <a:spcPts val="600"/>
              </a:spcAft>
            </a:pPr>
            <a:r>
              <a:rPr sz="1400" b="0">
                <a:latin typeface="Calibri"/>
              </a:rPr>
              <a:t>Base paper: </a:t>
            </a:r>
            <a:r>
              <a:rPr sz="1400" b="0">
                <a:solidFill>
                  <a:srgbClr val="000000"/>
                </a:solidFill>
                <a:latin typeface="Calibri"/>
                <a:highlight>
                  <a:srgbClr val="FFFF00"/>
                </a:highlight>
              </a:rPr>
              <a:t>[Base paper to be verified by the student]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Full list of 16 references in the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