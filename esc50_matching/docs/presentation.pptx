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Template Matching of Environmental Sounds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using Normalised Cross-Correlation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FDDEE"/>
                </a:solidFill>
                <a:latin typeface="Calibri"/>
              </a:rPr>
              <a:t>Finding where a known sound occurs in a longer recording (ESC-50)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Student name: </a:t>
            </a:r>
            <a:r>
              <a:rPr sz="1800" b="0">
                <a:solidFill>
                  <a:srgbClr val="000000"/>
                </a:solidFill>
                <a:latin typeface="Calibri"/>
                <a:highlight>
                  <a:srgbClr val="FFFF00"/>
                </a:highlight>
              </a:rPr>
              <a:t>[Student name]</a:t>
            </a:r>
            <a:r>
              <a:rPr sz="1800" b="0">
                <a:solidFill>
                  <a:srgbClr val="FFFFFF"/>
                </a:solidFill>
                <a:latin typeface="Calibri"/>
              </a:rPr>
              <a:t>     Roll no: </a:t>
            </a:r>
            <a:r>
              <a:rPr sz="1800" b="0">
                <a:solidFill>
                  <a:srgbClr val="000000"/>
                </a:solidFill>
                <a:latin typeface="Calibri"/>
                <a:highlight>
                  <a:srgbClr val="FFFF00"/>
                </a:highlight>
              </a:rPr>
              <a:t>[Roll no]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Guide name: </a:t>
            </a:r>
            <a:r>
              <a:rPr sz="1800" b="0">
                <a:solidFill>
                  <a:srgbClr val="000000"/>
                </a:solidFill>
                <a:latin typeface="Calibri"/>
                <a:highlight>
                  <a:srgbClr val="FFFF00"/>
                </a:highlight>
              </a:rPr>
              <a:t>[Guide name]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Department: </a:t>
            </a:r>
            <a:r>
              <a:rPr sz="1800" b="0">
                <a:solidFill>
                  <a:srgbClr val="000000"/>
                </a:solidFill>
                <a:latin typeface="Calibri"/>
                <a:highlight>
                  <a:srgbClr val="FFFF00"/>
                </a:highlight>
              </a:rPr>
              <a:t>[Department]</a:t>
            </a:r>
            <a:r>
              <a:rPr sz="1800" b="0">
                <a:solidFill>
                  <a:srgbClr val="FFFFFF"/>
                </a:solidFill>
                <a:latin typeface="Calibri"/>
              </a:rPr>
              <a:t>     Institute: </a:t>
            </a:r>
            <a:r>
              <a:rPr sz="1800" b="0">
                <a:solidFill>
                  <a:srgbClr val="000000"/>
                </a:solidFill>
                <a:latin typeface="Calibri"/>
                <a:highlight>
                  <a:srgbClr val="FFFF00"/>
                </a:highlight>
              </a:rPr>
              <a:t>[Institute]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Academic year: </a:t>
            </a:r>
            <a:r>
              <a:rPr sz="1800" b="0">
                <a:solidFill>
                  <a:srgbClr val="000000"/>
                </a:solidFill>
                <a:latin typeface="Calibri"/>
                <a:highlight>
                  <a:srgbClr val="FFFF00"/>
                </a:highlight>
              </a:rPr>
              <a:t>[Academic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0072B2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latin typeface="Calibri"/>
              </a:rPr>
              <a:t>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1051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0072B2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81051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latin typeface="Calibri"/>
              </a:rPr>
              <a:t>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32304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0072B2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43230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latin typeface="Calibri"/>
              </a:rPr>
              <a:t>Comparative Study of Literature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54096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0072B2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05409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latin typeface="Calibri"/>
              </a:rPr>
              <a:t>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7588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0072B2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67588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latin typeface="Calibri"/>
              </a:rPr>
              <a:t>Methodology (Flow Chart)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0072B2"/>
                </a:solidFill>
                <a:latin typeface="Calibr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297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latin typeface="Calibri"/>
              </a:rPr>
              <a:t>Work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1947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0072B2"/>
                </a:solidFill>
                <a:latin typeface="Calibri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919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latin typeface="Calibri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41264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0072B2"/>
                </a:solidFill>
                <a:latin typeface="Calibri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54126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latin typeface="Calibri"/>
              </a:rPr>
              <a:t>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Template matching of environmental sounds with normalised cross-correlation (ESC-50)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Comparative Study of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1188720"/>
                <a:gridCol w="4297680"/>
              </a:tblGrid>
              <a:tr h="5257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Takeaway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BASE PAPER: Nolasco et al., Learning to detect an animal sound from five examples, Ecological Informatics [17]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Detect a sound from few examples; template matching is the classic baseline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Tutul, Buchem, Pinkwart, cross-correlation vs CNN sound detection (arXiv preprint) [18]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NCC with a fixed threshold detects a stored sound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Piczak, ESC dataset [1], [2]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2015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Labelled clips, 50 classes; data used here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Richards, Fundamentals of Radar Signal Processing [4]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2014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Matched filter and correlation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Richards, Scheer, Holm, Principles of Modern Radar [5]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2010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Correlation detection and thresholds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Skolnik, Radar Handbook [6]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2008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Matched filtering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TU Berlin, Matched Filter and Pulse Compression [7]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n.d.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FFT correlation in Python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Base paper: title, authors, journal and DOI checked against repository records; summarised from its abstract (full text not read). Latest-to-oldest after the base paper.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280160"/>
            <a:ext cx="4297680" cy="4937760"/>
          </a:xfrm>
          <a:prstGeom prst="rect">
            <a:avLst/>
          </a:prstGeom>
          <a:solidFill>
            <a:srgbClr val="EEF3F8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latin typeface="Calibri"/>
              </a:rPr>
              <a:t>Background</a:t>
            </a:r>
          </a:p>
          <a:p>
            <a:pPr>
              <a:spcAft>
                <a:spcPts val="600"/>
              </a:spcAft>
            </a:pPr>
            <a:r>
              <a:rPr sz="1500" b="0">
                <a:latin typeface="Calibri"/>
              </a:rPr>
              <a:t>Template matching = slide a known sound along a recording and score every position (NCC [4], [7])</a:t>
            </a:r>
          </a:p>
          <a:p>
            <a:pPr>
              <a:spcAft>
                <a:spcPts val="600"/>
              </a:spcAft>
            </a:pPr>
            <a:r>
              <a:rPr sz="1500" b="0">
                <a:latin typeface="Calibri"/>
              </a:rPr>
              <a:t>Test data: ESC-50 [1], [2] clips joined with 1 s silences, so true positions are known</a:t>
            </a:r>
          </a:p>
          <a:p>
            <a:pPr>
              <a:spcAft>
                <a:spcPts val="600"/>
              </a:spcAft>
            </a:pPr>
            <a:r>
              <a:rPr sz="1500" b="0">
                <a:latin typeface="Calibri"/>
              </a:rPr>
              <a:t>CC BY-NC 3.0 [3]; 5 classes, 16 kHz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 Load ESC-50, convert to mono 16 kHz, normalise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 Join clips with 1 s silences; record exact spans as ground truth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 FFT-based normalised cross-correlation in NumPy; threshold + non-maximum suppression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 Detection correct if its centre lies inside a true clip; precision, recall, F1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 Streamlit app with a threshold slider and plots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 Experiment: P/R/F1 vs threshold, 5 classes, 30 recordings each; best threshold per class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Methodology (Flow Chart)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pic>
        <p:nvPicPr>
          <p:cNvPr id="5" name="Picture 4" descr="fi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36701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 score[k] = sum x[k+n]·t[n] / ( sqrt(sum x[k+n]²) · sqrt(sum t²) )   (numerator by FFT, window energy by running sum)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 Two test conditions: other clips of the class  |  the template itself (gain 0.5–1.5, 20 dB noise)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Work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 NumPy [8] for all matching; SciPy [9] only for WAV reading and resampling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 Data from your ESC-50 zip, a folder, or single-file GitHub download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 Streamlit app [11]; Matplotlib [10]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 pytest [12]: 6 tests, all pass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 Chance baseline added to judge the results honestly</a:t>
            </a:r>
          </a:p>
        </p:txBody>
      </p:sp>
      <p:pic>
        <p:nvPicPr>
          <p:cNvPr id="6" name="Picture 5" descr="app_rep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92531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fig_prf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26326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3840480"/>
            <a:ext cx="11430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latin typeface="Calibri"/>
              </a:rPr>
              <a:t>•  Same sound repeated (gain 0.5–1.5, 20 dB noise): F1 = dog 1.00, rooster 1.00, rain 1.00, siren 1.00, door_wood_knock 1.00 (no false detections)</a:t>
            </a:r>
          </a:p>
          <a:p>
            <a:pPr>
              <a:spcAft>
                <a:spcPts val="600"/>
              </a:spcAft>
            </a:pPr>
            <a:r>
              <a:rPr sz="1500" b="0">
                <a:latin typeface="Calibri"/>
              </a:rPr>
              <a:t>•  Other clips of the class (figure): best F1 dog 0.40 (chance 0.23), rooster 0.41 (chance 0.34), rain 0.21 (chance 0.21), siren 0.49 (chance 0.47), door_wood_knock 0.68 (chance 0.33)</a:t>
            </a:r>
          </a:p>
          <a:p>
            <a:pPr>
              <a:spcAft>
                <a:spcPts val="600"/>
              </a:spcAft>
            </a:pPr>
            <a:r>
              <a:rPr sz="1500" b="0">
                <a:latin typeface="Calibri"/>
              </a:rPr>
              <a:t>•  Only dog and door_wood_knock clearly beat chance; rain and siren are at chance level</a:t>
            </a:r>
          </a:p>
          <a:p>
            <a:pPr>
              <a:spcAft>
                <a:spcPts val="600"/>
              </a:spcAft>
            </a:pPr>
            <a:r>
              <a:rPr sz="1500" b="0">
                <a:latin typeface="Calibri"/>
              </a:rPr>
              <a:t>•  Best thresholds are very low (0.02–0.14): raw-waveform NCC does not generalise across different recordings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latin typeface="Calibri"/>
              </a:rPr>
              <a:t>[17] I. Nolasco, S. Singh, V. Morfi, V. Lostanlen, A. Strandburg-Peshkin, E. Vidana-Vila, L. Gill, H. Pamula, H. Whitehead, I. Kiskin, F. H. Jensen, J. Morford, M. G. Emmerson, E. Versace, E. Grout, H. Liu, B. Ghani and D. Stowell, "Learning to detect an animal sound from five examples", Ecological Informatics, vol. 77, art. 102258, 2023, doi:10.1016/j.ecoinf.2023.102258 (BASE PAPER; also on arXiv:2305.13210).</a:t>
            </a:r>
          </a:p>
          <a:p>
            <a:pPr>
              <a:spcAft>
                <a:spcPts val="600"/>
              </a:spcAft>
            </a:pPr>
            <a:r>
              <a:rPr sz="1200" b="0">
                <a:latin typeface="Calibri"/>
              </a:rPr>
              <a:t>[18] R. Tutul, I. Buchem and N. Pinkwart, "Algorithmic Accuracy as a Motivational Driver in Robot-Mediated Learning: A Comparative Study of Cross-Correlation and CNN-Based Sound Detection in an Interactive Quiz Game", arXiv:2607.16299, July 2026 (preprint).</a:t>
            </a:r>
          </a:p>
          <a:p>
            <a:pPr>
              <a:spcAft>
                <a:spcPts val="600"/>
              </a:spcAft>
            </a:pPr>
            <a:r>
              <a:rPr sz="1200" b="0">
                <a:latin typeface="Calibri"/>
              </a:rPr>
              <a:t>[1] K. J. Piczak, "ESC: Dataset for Environmental Sound Classification", Proc. 23rd ACM International Conference on Multimedia (ACM Multimedia), 2015.</a:t>
            </a:r>
          </a:p>
          <a:p>
            <a:pPr>
              <a:spcAft>
                <a:spcPts val="600"/>
              </a:spcAft>
            </a:pPr>
            <a:r>
              <a:rPr sz="1200" b="0">
                <a:latin typeface="Calibri"/>
              </a:rPr>
              <a:t>[2] K. J. Piczak, ESC-50: Dataset for Environmental Sound Classification (2,000 clips, 50 classes), github.com/karolpiczak/ESC-50.</a:t>
            </a:r>
          </a:p>
          <a:p>
            <a:pPr>
              <a:spcAft>
                <a:spcPts val="600"/>
              </a:spcAft>
            </a:pPr>
            <a:r>
              <a:rPr sz="1200" b="0">
                <a:latin typeface="Calibri"/>
              </a:rPr>
              <a:t>[3] Creative Commons Attribution-NonCommercial 3.0 licence (CC BY-NC 3.0), creativecommons.org/licenses/by-nc/3.0/.</a:t>
            </a:r>
          </a:p>
          <a:p>
            <a:pPr>
              <a:spcAft>
                <a:spcPts val="600"/>
              </a:spcAft>
            </a:pPr>
            <a:r>
              <a:rPr sz="1200" b="0">
                <a:latin typeface="Calibri"/>
              </a:rPr>
              <a:t>[4] M. A. Richards, Fundamentals of Radar Signal Processing, 2nd ed., McGraw-Hill, 2014.</a:t>
            </a:r>
          </a:p>
          <a:p>
            <a:pPr>
              <a:spcAft>
                <a:spcPts val="600"/>
              </a:spcAft>
            </a:pPr>
            <a:r>
              <a:rPr sz="1200" b="0">
                <a:latin typeface="Calibri"/>
              </a:rPr>
              <a:t>[7] TU Berlin, "Matched Filter and Pulse Compression", chapter of the Scientific Python course, platform.commit.tu-berlin.de/en/book/sci-python/chapter/ch25/section/s01.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Full list of 18 references in the report. [17] is the base paper.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